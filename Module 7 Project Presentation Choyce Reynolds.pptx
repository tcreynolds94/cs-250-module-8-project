
<file path=[Content_Types].xml><?xml version="1.0" encoding="utf-8"?>
<Types xmlns="http://schemas.openxmlformats.org/package/2006/content-types">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11"/>
  </p:notesMasterIdLst>
  <p:handoutMasterIdLst>
    <p:handoutMasterId r:id="rId12"/>
  </p:handoutMasterIdLst>
  <p:sldIdLst>
    <p:sldId id="258" r:id="rId5"/>
    <p:sldId id="259" r:id="rId6"/>
    <p:sldId id="260" r:id="rId7"/>
    <p:sldId id="263" r:id="rId8"/>
    <p:sldId id="261"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5C2323-DC73-4836-8695-48BB37B9BF70}" v="38" dt="2026-06-21T20:51:50.4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30"/>
  </p:normalViewPr>
  <p:slideViewPr>
    <p:cSldViewPr showGuides="1">
      <p:cViewPr varScale="1">
        <p:scale>
          <a:sx n="101" d="100"/>
          <a:sy n="101" d="100"/>
        </p:scale>
        <p:origin x="186" y="108"/>
      </p:cViewPr>
      <p:guideLst>
        <p:guide orient="horz" pos="2160"/>
        <p:guide pos="3840"/>
      </p:guideLst>
    </p:cSldViewPr>
  </p:slideViewPr>
  <p:notesTextViewPr>
    <p:cViewPr>
      <p:scale>
        <a:sx n="1" d="1"/>
        <a:sy n="1" d="1"/>
      </p:scale>
      <p:origin x="0" y="0"/>
    </p:cViewPr>
  </p:notesTextViewPr>
  <p:sorterViewPr>
    <p:cViewPr>
      <p:scale>
        <a:sx n="100" d="100"/>
        <a:sy n="100" d="100"/>
      </p:scale>
      <p:origin x="0" y="-21892"/>
    </p:cViewPr>
  </p:sorterViewPr>
  <p:notesViewPr>
    <p:cSldViewPr>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yney Miller" userId="3f8c4482d80a86f2" providerId="LiveId" clId="{6C9523D6-7094-4B38-908D-378F96DA4DE2}"/>
    <pc:docChg chg="undo custSel addSld delSld modSld sldOrd">
      <pc:chgData name="Layney Miller" userId="3f8c4482d80a86f2" providerId="LiveId" clId="{6C9523D6-7094-4B38-908D-378F96DA4DE2}" dt="2026-06-21T20:51:50.449" v="4229"/>
      <pc:docMkLst>
        <pc:docMk/>
      </pc:docMkLst>
      <pc:sldChg chg="modSp mod">
        <pc:chgData name="Layney Miller" userId="3f8c4482d80a86f2" providerId="LiveId" clId="{6C9523D6-7094-4B38-908D-378F96DA4DE2}" dt="2026-06-21T20:27:53.367" v="4166" actId="20577"/>
        <pc:sldMkLst>
          <pc:docMk/>
          <pc:sldMk cId="2812452602" sldId="258"/>
        </pc:sldMkLst>
        <pc:spChg chg="mod">
          <ac:chgData name="Layney Miller" userId="3f8c4482d80a86f2" providerId="LiveId" clId="{6C9523D6-7094-4B38-908D-378F96DA4DE2}" dt="2026-06-21T20:27:53.367" v="4166" actId="20577"/>
          <ac:spMkLst>
            <pc:docMk/>
            <pc:sldMk cId="2812452602" sldId="258"/>
            <ac:spMk id="4" creationId="{5CA5C5AD-7278-E875-15B7-835123AC22E5}"/>
          </ac:spMkLst>
        </pc:spChg>
      </pc:sldChg>
      <pc:sldChg chg="addSp delSp modSp mod setBg">
        <pc:chgData name="Layney Miller" userId="3f8c4482d80a86f2" providerId="LiveId" clId="{6C9523D6-7094-4B38-908D-378F96DA4DE2}" dt="2026-06-21T20:50:28.014" v="4222" actId="207"/>
        <pc:sldMkLst>
          <pc:docMk/>
          <pc:sldMk cId="1566794434" sldId="259"/>
        </pc:sldMkLst>
        <pc:spChg chg="mod">
          <ac:chgData name="Layney Miller" userId="3f8c4482d80a86f2" providerId="LiveId" clId="{6C9523D6-7094-4B38-908D-378F96DA4DE2}" dt="2026-06-21T20:50:18.849" v="4220" actId="207"/>
          <ac:spMkLst>
            <pc:docMk/>
            <pc:sldMk cId="1566794434" sldId="259"/>
            <ac:spMk id="2" creationId="{66A135A3-7E0F-AD52-E97D-9E25C8FC98D4}"/>
          </ac:spMkLst>
        </pc:spChg>
        <pc:spChg chg="mod">
          <ac:chgData name="Layney Miller" userId="3f8c4482d80a86f2" providerId="LiveId" clId="{6C9523D6-7094-4B38-908D-378F96DA4DE2}" dt="2026-06-21T20:50:24.167" v="4221" actId="207"/>
          <ac:spMkLst>
            <pc:docMk/>
            <pc:sldMk cId="1566794434" sldId="259"/>
            <ac:spMk id="3" creationId="{2637A77C-CE60-2479-3CB6-4A3CF38BABA9}"/>
          </ac:spMkLst>
        </pc:spChg>
        <pc:spChg chg="mod">
          <ac:chgData name="Layney Miller" userId="3f8c4482d80a86f2" providerId="LiveId" clId="{6C9523D6-7094-4B38-908D-378F96DA4DE2}" dt="2026-06-21T20:50:28.014" v="4222" actId="207"/>
          <ac:spMkLst>
            <pc:docMk/>
            <pc:sldMk cId="1566794434" sldId="259"/>
            <ac:spMk id="4" creationId="{DADDA569-FA0E-7216-FAE7-90A7CC239214}"/>
          </ac:spMkLst>
        </pc:spChg>
        <pc:picChg chg="add del">
          <ac:chgData name="Layney Miller" userId="3f8c4482d80a86f2" providerId="LiveId" clId="{6C9523D6-7094-4B38-908D-378F96DA4DE2}" dt="2026-06-21T20:21:10.602" v="4040" actId="22"/>
          <ac:picMkLst>
            <pc:docMk/>
            <pc:sldMk cId="1566794434" sldId="259"/>
            <ac:picMk id="8" creationId="{C7A265E6-F4FD-ED29-0601-960CD18526C1}"/>
          </ac:picMkLst>
        </pc:picChg>
      </pc:sldChg>
      <pc:sldChg chg="modSp mod setBg">
        <pc:chgData name="Layney Miller" userId="3f8c4482d80a86f2" providerId="LiveId" clId="{6C9523D6-7094-4B38-908D-378F96DA4DE2}" dt="2026-06-21T20:50:01.427" v="4219" actId="207"/>
        <pc:sldMkLst>
          <pc:docMk/>
          <pc:sldMk cId="2483705398" sldId="260"/>
        </pc:sldMkLst>
        <pc:spChg chg="mod">
          <ac:chgData name="Layney Miller" userId="3f8c4482d80a86f2" providerId="LiveId" clId="{6C9523D6-7094-4B38-908D-378F96DA4DE2}" dt="2026-06-21T20:50:01.427" v="4219" actId="207"/>
          <ac:spMkLst>
            <pc:docMk/>
            <pc:sldMk cId="2483705398" sldId="260"/>
            <ac:spMk id="2" creationId="{7ED1DBE5-A478-8E56-D8FB-CA79E84CBD36}"/>
          </ac:spMkLst>
        </pc:spChg>
        <pc:spChg chg="mod">
          <ac:chgData name="Layney Miller" userId="3f8c4482d80a86f2" providerId="LiveId" clId="{6C9523D6-7094-4B38-908D-378F96DA4DE2}" dt="2026-06-21T20:49:51.226" v="4217" actId="207"/>
          <ac:spMkLst>
            <pc:docMk/>
            <pc:sldMk cId="2483705398" sldId="260"/>
            <ac:spMk id="3" creationId="{EB8D2F5B-FD9D-0A85-6430-9FE5F3ED4F26}"/>
          </ac:spMkLst>
        </pc:spChg>
        <pc:spChg chg="mod">
          <ac:chgData name="Layney Miller" userId="3f8c4482d80a86f2" providerId="LiveId" clId="{6C9523D6-7094-4B38-908D-378F96DA4DE2}" dt="2026-06-21T20:49:56.276" v="4218" actId="207"/>
          <ac:spMkLst>
            <pc:docMk/>
            <pc:sldMk cId="2483705398" sldId="260"/>
            <ac:spMk id="5" creationId="{2CD9D698-2958-1D4F-8474-A177C8B649C0}"/>
          </ac:spMkLst>
        </pc:spChg>
      </pc:sldChg>
      <pc:sldChg chg="addSp modSp mod setBg">
        <pc:chgData name="Layney Miller" userId="3f8c4482d80a86f2" providerId="LiveId" clId="{6C9523D6-7094-4B38-908D-378F96DA4DE2}" dt="2026-06-21T20:48:58.974" v="4208" actId="108"/>
        <pc:sldMkLst>
          <pc:docMk/>
          <pc:sldMk cId="2851851487" sldId="261"/>
        </pc:sldMkLst>
        <pc:spChg chg="mod">
          <ac:chgData name="Layney Miller" userId="3f8c4482d80a86f2" providerId="LiveId" clId="{6C9523D6-7094-4B38-908D-378F96DA4DE2}" dt="2026-06-21T20:48:41.189" v="4206" actId="207"/>
          <ac:spMkLst>
            <pc:docMk/>
            <pc:sldMk cId="2851851487" sldId="261"/>
            <ac:spMk id="2" creationId="{3841220B-F313-052E-A44A-576212EA0EC2}"/>
          </ac:spMkLst>
        </pc:spChg>
        <pc:spChg chg="mod">
          <ac:chgData name="Layney Miller" userId="3f8c4482d80a86f2" providerId="LiveId" clId="{6C9523D6-7094-4B38-908D-378F96DA4DE2}" dt="2026-06-21T20:48:51.455" v="4207" actId="207"/>
          <ac:spMkLst>
            <pc:docMk/>
            <pc:sldMk cId="2851851487" sldId="261"/>
            <ac:spMk id="3" creationId="{7727A6DB-54CC-8FBA-C67A-5D13EE168FE9}"/>
          </ac:spMkLst>
        </pc:spChg>
        <pc:spChg chg="add mod">
          <ac:chgData name="Layney Miller" userId="3f8c4482d80a86f2" providerId="LiveId" clId="{6C9523D6-7094-4B38-908D-378F96DA4DE2}" dt="2026-06-21T20:48:58.974" v="4208" actId="108"/>
          <ac:spMkLst>
            <pc:docMk/>
            <pc:sldMk cId="2851851487" sldId="261"/>
            <ac:spMk id="4" creationId="{9536BF93-FDED-B46A-B98D-10430D200770}"/>
          </ac:spMkLst>
        </pc:spChg>
      </pc:sldChg>
      <pc:sldChg chg="modSp mod setBg">
        <pc:chgData name="Layney Miller" userId="3f8c4482d80a86f2" providerId="LiveId" clId="{6C9523D6-7094-4B38-908D-378F96DA4DE2}" dt="2026-06-21T20:51:50.449" v="4229"/>
        <pc:sldMkLst>
          <pc:docMk/>
          <pc:sldMk cId="1691848952" sldId="262"/>
        </pc:sldMkLst>
        <pc:spChg chg="mod">
          <ac:chgData name="Layney Miller" userId="3f8c4482d80a86f2" providerId="LiveId" clId="{6C9523D6-7094-4B38-908D-378F96DA4DE2}" dt="2026-06-21T20:48:31.441" v="4205" actId="207"/>
          <ac:spMkLst>
            <pc:docMk/>
            <pc:sldMk cId="1691848952" sldId="262"/>
            <ac:spMk id="2" creationId="{9E0D5E7A-7009-D683-CEBB-7F051471EC84}"/>
          </ac:spMkLst>
        </pc:spChg>
        <pc:spChg chg="mod">
          <ac:chgData name="Layney Miller" userId="3f8c4482d80a86f2" providerId="LiveId" clId="{6C9523D6-7094-4B38-908D-378F96DA4DE2}" dt="2026-06-21T20:48:06.331" v="4203" actId="207"/>
          <ac:spMkLst>
            <pc:docMk/>
            <pc:sldMk cId="1691848952" sldId="262"/>
            <ac:spMk id="3" creationId="{DF2785E7-E2DA-FB36-5B51-84E102C969B0}"/>
          </ac:spMkLst>
        </pc:spChg>
      </pc:sldChg>
      <pc:sldChg chg="addSp modSp new mod ord setBg">
        <pc:chgData name="Layney Miller" userId="3f8c4482d80a86f2" providerId="LiveId" clId="{6C9523D6-7094-4B38-908D-378F96DA4DE2}" dt="2026-06-21T20:50:40.668" v="4223" actId="207"/>
        <pc:sldMkLst>
          <pc:docMk/>
          <pc:sldMk cId="3527646965" sldId="263"/>
        </pc:sldMkLst>
        <pc:spChg chg="mod">
          <ac:chgData name="Layney Miller" userId="3f8c4482d80a86f2" providerId="LiveId" clId="{6C9523D6-7094-4B38-908D-378F96DA4DE2}" dt="2026-06-21T20:50:40.668" v="4223" actId="207"/>
          <ac:spMkLst>
            <pc:docMk/>
            <pc:sldMk cId="3527646965" sldId="263"/>
            <ac:spMk id="2" creationId="{9E575571-BE88-C3FF-3F2D-11622590BD3E}"/>
          </ac:spMkLst>
        </pc:spChg>
        <pc:spChg chg="mod">
          <ac:chgData name="Layney Miller" userId="3f8c4482d80a86f2" providerId="LiveId" clId="{6C9523D6-7094-4B38-908D-378F96DA4DE2}" dt="2026-06-21T20:49:26.178" v="4211" actId="108"/>
          <ac:spMkLst>
            <pc:docMk/>
            <pc:sldMk cId="3527646965" sldId="263"/>
            <ac:spMk id="3" creationId="{9C68E101-9AF8-75C3-6854-A26E9EB024DC}"/>
          </ac:spMkLst>
        </pc:spChg>
        <pc:spChg chg="add mod">
          <ac:chgData name="Layney Miller" userId="3f8c4482d80a86f2" providerId="LiveId" clId="{6C9523D6-7094-4B38-908D-378F96DA4DE2}" dt="2026-06-21T20:49:28.088" v="4212" actId="108"/>
          <ac:spMkLst>
            <pc:docMk/>
            <pc:sldMk cId="3527646965" sldId="263"/>
            <ac:spMk id="4" creationId="{E9F9B2C2-1C50-6B5F-13F8-3CCCD565BDBA}"/>
          </ac:spMkLst>
        </pc:spChg>
      </pc:sldChg>
      <pc:sldChg chg="new del">
        <pc:chgData name="Layney Miller" userId="3f8c4482d80a86f2" providerId="LiveId" clId="{6C9523D6-7094-4B38-908D-378F96DA4DE2}" dt="2026-06-20T22:16:39.195" v="3750" actId="2696"/>
        <pc:sldMkLst>
          <pc:docMk/>
          <pc:sldMk cId="316915164" sldId="264"/>
        </pc:sldMkLst>
      </pc:sldChg>
      <pc:sldChg chg="new del">
        <pc:chgData name="Layney Miller" userId="3f8c4482d80a86f2" providerId="LiveId" clId="{6C9523D6-7094-4B38-908D-378F96DA4DE2}" dt="2026-06-21T20:15:42.630" v="4006" actId="2696"/>
        <pc:sldMkLst>
          <pc:docMk/>
          <pc:sldMk cId="2937892035" sldId="26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6/20/2026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6/20/2026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366932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endParaRPr lang="en-US" dirty="0"/>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E5F44E88-89D9-49CC-9E37-1AF77A031198}" type="datetime1">
              <a:rPr lang="en-US" smtClean="0"/>
              <a:t>6/20/2026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AC2C24E-B95E-481D-968E-0BDCFC72F656}" type="datetime1">
              <a:rPr lang="en-US" smtClean="0"/>
              <a:t>6/20/2026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endParaRPr lang="en-US" dirty="0"/>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83DFFD80-41C6-4EAA-B049-EE90EA550127}" type="datetime1">
              <a:rPr lang="en-US" smtClean="0"/>
              <a:t>6/20/2026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4210B3C-79E3-495A-B2C3-EF766F409D04}" type="datetime1">
              <a:rPr lang="en-US" smtClean="0"/>
              <a:t>6/20/2026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D6235515-DA3D-4D9A-9B02-44E2CBD9110F}" type="datetime1">
              <a:rPr lang="en-US" smtClean="0"/>
              <a:t>6/20/2026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852BD0B2-E7A7-4B81-8BAF-4B92BD6A4310}" type="datetime1">
              <a:rPr lang="en-US" smtClean="0"/>
              <a:t>6/20/2026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A0E657DB-59AB-47CC-B4C7-A245A3C76BB1}" type="datetime1">
              <a:rPr lang="en-US" smtClean="0"/>
              <a:t>6/20/2026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endParaRPr lang="en-US" dirty="0"/>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1415DC98-F527-4737-A5B9-3597210FA2F7}" type="datetime1">
              <a:rPr lang="en-US" smtClean="0"/>
              <a:t>6/20/2026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B2188889-44B4-42BD-84DC-2D1A93FD44C7}" type="datetime1">
              <a:rPr lang="en-US" smtClean="0"/>
              <a:t>6/20/2026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6A40708-E793-490B-9201-425C8D1F325C}" type="datetime1">
              <a:rPr lang="en-US" smtClean="0"/>
              <a:t>6/20/2026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dirty="0"/>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1968991-530B-4F8D-80FE-2192BD2DD5A5}" type="datetime1">
              <a:rPr lang="en-US" smtClean="0"/>
              <a:t>6/20/2026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23477E6-5CE8-4544-92C7-AEB7D166FD7D}" type="datetime1">
              <a:rPr lang="en-US" smtClean="0"/>
              <a:t>6/20/2026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63EB29E-E91D-4BC9-BE3F-394F6FDC9AC7}" type="datetime1">
              <a:rPr lang="en-US" smtClean="0"/>
              <a:t>6/20/2026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BAD7DA-2107-4637-8C8D-3B775970879B}" type="datetime1">
              <a:rPr lang="en-US" smtClean="0"/>
              <a:t>6/20/2026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59F5542-E2F9-4DC1-8AB7-8E5D8714BD21}" type="datetime1">
              <a:rPr lang="en-US" smtClean="0"/>
              <a:t>6/20/2026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4597AFA7-1C4B-4AAF-9FD8-61D1DA4C999A}" type="datetime1">
              <a:rPr lang="en-US" smtClean="0"/>
              <a:t>6/20/2026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EF5F7DF4-8BE0-4832-9230-78DDDEC4B6DD}" type="datetime1">
              <a:rPr lang="en-US" smtClean="0"/>
              <a:t>6/20/2026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D3D21CC-B9C8-49F6-ADE7-6BF4A546A74E}" type="datetime1">
              <a:rPr lang="en-US" smtClean="0"/>
              <a:t>6/20/2026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dirty="0"/>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6/20/2026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C1166B1E-1AFA-4A7F-9646-409FBAA0A887}" type="datetime1">
              <a:rPr lang="en-US" smtClean="0"/>
              <a:t>6/20/2026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6/20/2026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CFA9782-9FBA-47E1-A36A-E75622F7046E}" type="datetime1">
              <a:rPr lang="en-US" smtClean="0"/>
              <a:t>6/20/2026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AA28231D-ABE1-4859-B037-5D42FA8F4858}" type="datetime1">
              <a:rPr lang="en-US" smtClean="0"/>
              <a:t>6/20/2026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endParaRPr lang="en-US" dirty="0"/>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AAA916C4-9175-479B-9610-7E06A2EDFEE0}" type="datetime1">
              <a:rPr lang="en-US" smtClean="0"/>
              <a:t>6/20/2026</a:t>
            </a:fld>
            <a:endParaRPr lang="en-US" dirty="0"/>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71AD2788-6390-4160-9542-0F1C554F0165}" type="datetime1">
              <a:rPr lang="en-US" smtClean="0"/>
              <a:t>6/20/2026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endParaRPr lang="en-US" dirty="0"/>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C6E6CDFB-328D-4B9A-B955-967B0C6194A8}" type="datetime1">
              <a:rPr lang="en-US" smtClean="0"/>
              <a:t>6/20/2026</a:t>
            </a:fld>
            <a:endParaRPr lang="en-US" dirty="0"/>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A994DB4-9653-4FD4-8A14-5DAFB68B0E92}" type="datetime1">
              <a:rPr lang="en-US" smtClean="0"/>
              <a:t>6/20/2026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BECFC22-7333-427C-A7BB-2A423772B9A0}" type="datetime1">
              <a:rPr lang="en-US" smtClean="0"/>
              <a:t>6/20/2026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B78D85C6-8657-43F4-BE68-8F80962A5435}" type="datetime1">
              <a:rPr lang="en-US" smtClean="0"/>
              <a:t>6/20/2026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9D65A6B-59CD-4A95-97A1-5003425BCE52}" type="datetime1">
              <a:rPr lang="en-US" smtClean="0"/>
              <a:t>6/20/2026</a:t>
            </a:fld>
            <a:endParaRPr lang="en-US" dirty="0"/>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a:t>Click icon to add picture</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AEBE612C-E459-4252-B286-C98BDF4C5E92}" type="datetime1">
              <a:rPr lang="en-US" smtClean="0"/>
              <a:t>6/20/2026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endParaRPr lang="en-US" dirty="0"/>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D8568ADA-B78D-4076-A9DF-6C8E04B71243}" type="datetime1">
              <a:rPr lang="en-US" smtClean="0"/>
              <a:t>6/20/2026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E3ED234F-BBE0-48A3-AC31-D10A1F3BC187}" type="datetime1">
              <a:rPr lang="en-US" smtClean="0"/>
              <a:t>6/20/2026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A0D3809-2B53-482D-AD1B-8B09C4B2656C}" type="datetime1">
              <a:rPr lang="en-US" smtClean="0"/>
              <a:t>6/20/2026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154F04C1-B149-48D4-90B8-E64820B32F59}" type="datetime1">
              <a:rPr lang="en-US" smtClean="0"/>
              <a:t>6/20/2026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endParaRPr lang="en-US" dirty="0"/>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81AED7B4-8DB4-40B0-90CF-49D3708442C0}" type="datetime1">
              <a:rPr lang="en-US" smtClean="0"/>
              <a:t>6/20/2026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F861E720-2EA4-4832-8DC2-DC3D2BDBB07C}" type="datetime1">
              <a:rPr lang="en-US" smtClean="0"/>
              <a:t>6/20/2026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AB608D6C-D0F1-479F-911E-8569D2F1ED15}" type="datetime1">
              <a:rPr lang="en-US" smtClean="0"/>
              <a:t>6/20/2026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CBCFCC67-CBC1-48BE-A467-33E284003C9C}" type="datetime1">
              <a:rPr lang="en-US" smtClean="0"/>
              <a:t>6/20/2026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BF01E07-9F97-42AE-9FE9-3EAD856BDB2A}" type="datetime1">
              <a:rPr lang="en-US" smtClean="0"/>
              <a:t>6/20/2026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34B2334-B27F-4DA0-8A92-599603070D6B}" type="datetime1">
              <a:rPr lang="en-US" smtClean="0"/>
              <a:t>6/20/2026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9B8D85F-DE7D-4C09-9BDD-03377313F809}" type="datetime1">
              <a:rPr lang="en-US" smtClean="0"/>
              <a:t>6/20/2026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68CAF44C-1683-44E3-97C5-DF51C69BF7AA}" type="datetime1">
              <a:rPr lang="en-US" smtClean="0"/>
              <a:t>6/20/2026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CD150565-788C-402B-B078-3F96B9A231B8}" type="datetime1">
              <a:rPr lang="en-US" smtClean="0"/>
              <a:t>6/20/2026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7B20C69-CB4E-44F7-A408-67C55627795C}" type="datetime1">
              <a:rPr lang="en-US" smtClean="0"/>
              <a:t>6/20/2026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A0C8FE45-F91B-4375-B362-4DC6F9A2A304}" type="datetime1">
              <a:rPr lang="en-US" smtClean="0"/>
              <a:t>6/20/2026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endParaRPr lang="en-US" dirty="0"/>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572A1522-8F1E-408E-ABA2-6F5B206582B8}" type="datetime1">
              <a:rPr lang="en-US" smtClean="0"/>
              <a:t>6/20/2026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3E19A776-5AE6-4251-8560-C6066D0B46D6}" type="datetime1">
              <a:rPr lang="en-US" smtClean="0"/>
              <a:t>6/20/2026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95FFA61-E651-4E50-A159-710A5ED7E6FE}" type="datetime1">
              <a:rPr lang="en-US" smtClean="0"/>
              <a:t>6/20/2026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E9E0D87-B7D0-4C2E-BAD1-97A555313A20}" type="datetime1">
              <a:rPr lang="en-US" smtClean="0"/>
              <a:t>6/20/2026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29814657-813A-4D7B-A2F8-E573BA1645D3}" type="datetime1">
              <a:rPr lang="en-US" smtClean="0"/>
              <a:t>6/20/2026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kms-technology.com/blog/key-phases-of-agile-software-development-life-cycle/" TargetMode="External"/><Relationship Id="rId2" Type="http://schemas.openxmlformats.org/officeDocument/2006/relationships/hyperlink" Target="https://www.geeksforgeeks.org/software-engineering/waterfall-model/" TargetMode="External"/><Relationship Id="rId1" Type="http://schemas.openxmlformats.org/officeDocument/2006/relationships/slideLayout" Target="../slideLayouts/slideLayout16.xml"/><Relationship Id="rId5" Type="http://schemas.openxmlformats.org/officeDocument/2006/relationships/hyperlink" Target="https://scrumguides.org/scrum-guide.html#scrum-master" TargetMode="External"/><Relationship Id="rId4" Type="http://schemas.openxmlformats.org/officeDocument/2006/relationships/hyperlink" Target="https://resources.scrumalliance.org/Article/scrum-tea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F4B6-3F85-6E67-ED81-2124436829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0CBC46-76F5-CB3F-9BF0-DE7BBD3C6643}"/>
              </a:ext>
            </a:extLst>
          </p:cNvPr>
          <p:cNvSpPr>
            <a:spLocks noGrp="1"/>
          </p:cNvSpPr>
          <p:nvPr>
            <p:ph type="ctrTitle"/>
          </p:nvPr>
        </p:nvSpPr>
        <p:spPr/>
        <p:txBody>
          <a:bodyPr>
            <a:noAutofit/>
          </a:bodyPr>
          <a:lstStyle/>
          <a:p>
            <a:r>
              <a:rPr lang="en-US" dirty="0"/>
              <a:t>Scrum-agile &amp; waterfall</a:t>
            </a:r>
          </a:p>
        </p:txBody>
      </p:sp>
      <p:sp>
        <p:nvSpPr>
          <p:cNvPr id="4" name="Subtitle 3">
            <a:extLst>
              <a:ext uri="{FF2B5EF4-FFF2-40B4-BE49-F238E27FC236}">
                <a16:creationId xmlns:a16="http://schemas.microsoft.com/office/drawing/2014/main" id="{5CA5C5AD-7278-E875-15B7-835123AC22E5}"/>
              </a:ext>
            </a:extLst>
          </p:cNvPr>
          <p:cNvSpPr>
            <a:spLocks noGrp="1"/>
          </p:cNvSpPr>
          <p:nvPr>
            <p:ph type="subTitle" idx="1"/>
          </p:nvPr>
        </p:nvSpPr>
        <p:spPr>
          <a:xfrm>
            <a:off x="609598" y="5105400"/>
            <a:ext cx="9144001" cy="1676400"/>
          </a:xfrm>
        </p:spPr>
        <p:txBody>
          <a:bodyPr>
            <a:normAutofit/>
          </a:bodyPr>
          <a:lstStyle/>
          <a:p>
            <a:pPr algn="ctr"/>
            <a:r>
              <a:rPr lang="en-US" dirty="0"/>
              <a:t>Choyce Reynolds</a:t>
            </a:r>
          </a:p>
          <a:p>
            <a:pPr algn="ctr"/>
            <a:r>
              <a:rPr lang="en-US" dirty="0"/>
              <a:t>CS-250-15998</a:t>
            </a:r>
          </a:p>
          <a:p>
            <a:pPr algn="ctr"/>
            <a:r>
              <a:rPr lang="en-US" dirty="0"/>
              <a:t>Professor Konishi</a:t>
            </a:r>
          </a:p>
          <a:p>
            <a:pPr algn="ctr"/>
            <a:r>
              <a:rPr lang="en-US" dirty="0"/>
              <a:t>June 21, 2026</a:t>
            </a:r>
          </a:p>
        </p:txBody>
      </p:sp>
    </p:spTree>
    <p:extLst>
      <p:ext uri="{BB962C8B-B14F-4D97-AF65-F5344CB8AC3E}">
        <p14:creationId xmlns:p14="http://schemas.microsoft.com/office/powerpoint/2010/main" val="2812452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135A3-7E0F-AD52-E97D-9E25C8FC98D4}"/>
              </a:ext>
            </a:extLst>
          </p:cNvPr>
          <p:cNvSpPr>
            <a:spLocks noGrp="1"/>
          </p:cNvSpPr>
          <p:nvPr>
            <p:ph type="title"/>
          </p:nvPr>
        </p:nvSpPr>
        <p:spPr>
          <a:solidFill>
            <a:schemeClr val="tx1"/>
          </a:solidFill>
        </p:spPr>
        <p:txBody>
          <a:bodyPr/>
          <a:lstStyle/>
          <a:p>
            <a:r>
              <a:rPr lang="en-US" dirty="0">
                <a:solidFill>
                  <a:schemeClr val="bg2"/>
                </a:solidFill>
              </a:rPr>
              <a:t>Agile roles</a:t>
            </a:r>
          </a:p>
        </p:txBody>
      </p:sp>
      <p:sp>
        <p:nvSpPr>
          <p:cNvPr id="3" name="Content Placeholder 2">
            <a:extLst>
              <a:ext uri="{FF2B5EF4-FFF2-40B4-BE49-F238E27FC236}">
                <a16:creationId xmlns:a16="http://schemas.microsoft.com/office/drawing/2014/main" id="{2637A77C-CE60-2479-3CB6-4A3CF38BABA9}"/>
              </a:ext>
            </a:extLst>
          </p:cNvPr>
          <p:cNvSpPr>
            <a:spLocks noGrp="1"/>
          </p:cNvSpPr>
          <p:nvPr>
            <p:ph idx="1"/>
          </p:nvPr>
        </p:nvSpPr>
        <p:spPr>
          <a:xfrm>
            <a:off x="612647" y="1828800"/>
            <a:ext cx="5254753" cy="4343400"/>
          </a:xfrm>
        </p:spPr>
        <p:txBody>
          <a:bodyPr/>
          <a:lstStyle/>
          <a:p>
            <a:r>
              <a:rPr lang="en-US" dirty="0">
                <a:solidFill>
                  <a:schemeClr val="bg2"/>
                </a:solidFill>
              </a:rPr>
              <a:t>Product Owner: </a:t>
            </a:r>
          </a:p>
          <a:p>
            <a:pPr marL="285750" indent="-285750">
              <a:buFont typeface="Arial" panose="020B0604020202020204" pitchFamily="34" charset="0"/>
              <a:buChar char="•"/>
            </a:pPr>
            <a:r>
              <a:rPr lang="en-US" dirty="0">
                <a:solidFill>
                  <a:schemeClr val="bg2"/>
                </a:solidFill>
              </a:rPr>
              <a:t>Communicates with clients and users</a:t>
            </a:r>
          </a:p>
          <a:p>
            <a:pPr marL="285750" indent="-285750">
              <a:buFont typeface="Arial" panose="020B0604020202020204" pitchFamily="34" charset="0"/>
              <a:buChar char="•"/>
            </a:pPr>
            <a:r>
              <a:rPr lang="en-US" dirty="0">
                <a:solidFill>
                  <a:schemeClr val="bg2"/>
                </a:solidFill>
              </a:rPr>
              <a:t>Develops the Product Goal</a:t>
            </a:r>
          </a:p>
          <a:p>
            <a:pPr marL="285750" indent="-285750">
              <a:buFont typeface="Arial" panose="020B0604020202020204" pitchFamily="34" charset="0"/>
              <a:buChar char="•"/>
            </a:pPr>
            <a:r>
              <a:rPr lang="en-US" dirty="0">
                <a:solidFill>
                  <a:schemeClr val="bg2"/>
                </a:solidFill>
              </a:rPr>
              <a:t>Adds items to the backlog, as well as orders and updates items within the backlog</a:t>
            </a:r>
          </a:p>
          <a:p>
            <a:pPr marL="285750" indent="-285750">
              <a:buFont typeface="Arial" panose="020B0604020202020204" pitchFamily="34" charset="0"/>
              <a:buChar char="•"/>
            </a:pPr>
            <a:r>
              <a:rPr lang="en-US" dirty="0">
                <a:solidFill>
                  <a:schemeClr val="bg2"/>
                </a:solidFill>
              </a:rPr>
              <a:t>Receive feedback from clients and stakeholders</a:t>
            </a:r>
          </a:p>
          <a:p>
            <a:pPr marL="285750" indent="-285750">
              <a:buFont typeface="Arial" panose="020B0604020202020204" pitchFamily="34" charset="0"/>
              <a:buChar char="•"/>
            </a:pPr>
            <a:r>
              <a:rPr lang="en-US" dirty="0">
                <a:solidFill>
                  <a:schemeClr val="bg2"/>
                </a:solidFill>
              </a:rPr>
              <a:t>Provides updates to the rest of the team when changes have been made to project.</a:t>
            </a:r>
          </a:p>
          <a:p>
            <a:pPr marL="285750" indent="-285750">
              <a:buFont typeface="Arial" panose="020B0604020202020204" pitchFamily="34" charset="0"/>
              <a:buChar char="•"/>
            </a:pPr>
            <a:r>
              <a:rPr lang="en-US" dirty="0">
                <a:solidFill>
                  <a:schemeClr val="bg2"/>
                </a:solidFill>
              </a:rPr>
              <a:t>Maximizes the value of the product by determining what goes into it. </a:t>
            </a:r>
          </a:p>
          <a:p>
            <a:r>
              <a:rPr lang="en-US" dirty="0">
                <a:solidFill>
                  <a:schemeClr val="bg2"/>
                </a:solidFill>
              </a:rPr>
              <a:t>(Scrum Alliance, n.d.)</a:t>
            </a:r>
          </a:p>
          <a:p>
            <a:endParaRPr lang="en-US" dirty="0">
              <a:solidFill>
                <a:schemeClr val="bg2"/>
              </a:solidFill>
            </a:endParaRPr>
          </a:p>
          <a:p>
            <a:pPr marL="514350" lvl="1" indent="-285750">
              <a:buFont typeface="Arial" panose="020B0604020202020204" pitchFamily="34" charset="0"/>
              <a:buChar char="•"/>
            </a:pPr>
            <a:endParaRPr lang="en-US" dirty="0">
              <a:solidFill>
                <a:schemeClr val="bg2"/>
              </a:solidFill>
            </a:endParaRPr>
          </a:p>
          <a:p>
            <a:endParaRPr lang="en-US" dirty="0">
              <a:solidFill>
                <a:schemeClr val="bg2"/>
              </a:solidFill>
            </a:endParaRPr>
          </a:p>
        </p:txBody>
      </p:sp>
      <p:sp>
        <p:nvSpPr>
          <p:cNvPr id="4" name="Content Placeholder 2">
            <a:extLst>
              <a:ext uri="{FF2B5EF4-FFF2-40B4-BE49-F238E27FC236}">
                <a16:creationId xmlns:a16="http://schemas.microsoft.com/office/drawing/2014/main" id="{DADDA569-FA0E-7216-FAE7-90A7CC239214}"/>
              </a:ext>
            </a:extLst>
          </p:cNvPr>
          <p:cNvSpPr txBox="1">
            <a:spLocks/>
          </p:cNvSpPr>
          <p:nvPr/>
        </p:nvSpPr>
        <p:spPr>
          <a:xfrm>
            <a:off x="6324602" y="1828800"/>
            <a:ext cx="5102351" cy="4343400"/>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4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rPr>
              <a:t>Scrum Master:</a:t>
            </a:r>
          </a:p>
          <a:p>
            <a:pPr marL="285750" indent="-285750">
              <a:buFont typeface="Arial" panose="020B0604020202020204" pitchFamily="34" charset="0"/>
              <a:buChar char="•"/>
            </a:pPr>
            <a:r>
              <a:rPr lang="en-US" dirty="0">
                <a:solidFill>
                  <a:schemeClr val="bg2"/>
                </a:solidFill>
              </a:rPr>
              <a:t>Serves as a coach for the team and organization on Scrum practices</a:t>
            </a:r>
          </a:p>
          <a:p>
            <a:pPr marL="285750" indent="-285750">
              <a:buFont typeface="Arial" panose="020B0604020202020204" pitchFamily="34" charset="0"/>
              <a:buChar char="•"/>
            </a:pPr>
            <a:r>
              <a:rPr lang="en-US" dirty="0">
                <a:solidFill>
                  <a:schemeClr val="bg2"/>
                </a:solidFill>
              </a:rPr>
              <a:t>Removes any impediments that the team may be experiencing </a:t>
            </a:r>
          </a:p>
          <a:p>
            <a:pPr marL="285750" indent="-285750">
              <a:buFont typeface="Arial" panose="020B0604020202020204" pitchFamily="34" charset="0"/>
              <a:buChar char="•"/>
            </a:pPr>
            <a:r>
              <a:rPr lang="en-US" dirty="0">
                <a:solidFill>
                  <a:schemeClr val="bg2"/>
                </a:solidFill>
              </a:rPr>
              <a:t>Initiates team Scrum events such as Sprint Planning, Daily Scrum, and Sprint Review, </a:t>
            </a:r>
          </a:p>
          <a:p>
            <a:pPr marL="285750" indent="-285750">
              <a:buFont typeface="Arial" panose="020B0604020202020204" pitchFamily="34" charset="0"/>
              <a:buChar char="•"/>
            </a:pPr>
            <a:r>
              <a:rPr lang="en-US" dirty="0">
                <a:solidFill>
                  <a:schemeClr val="bg2"/>
                </a:solidFill>
              </a:rPr>
              <a:t>Encourages the team on being self-organized and to collaborate continuously.</a:t>
            </a:r>
          </a:p>
          <a:p>
            <a:r>
              <a:rPr lang="en-US" dirty="0">
                <a:solidFill>
                  <a:schemeClr val="bg2"/>
                </a:solidFill>
              </a:rPr>
              <a:t>(Scrum Guide, n.d.)</a:t>
            </a:r>
          </a:p>
          <a:p>
            <a:r>
              <a:rPr lang="en-US" dirty="0">
                <a:solidFill>
                  <a:schemeClr val="bg2"/>
                </a:solidFill>
              </a:rPr>
              <a:t>Developer:</a:t>
            </a:r>
          </a:p>
          <a:p>
            <a:pPr marL="285750" indent="-285750">
              <a:buFont typeface="Arial" panose="020B0604020202020204" pitchFamily="34" charset="0"/>
              <a:buChar char="•"/>
            </a:pPr>
            <a:r>
              <a:rPr lang="en-US" dirty="0">
                <a:solidFill>
                  <a:schemeClr val="bg2"/>
                </a:solidFill>
              </a:rPr>
              <a:t>Create user stories</a:t>
            </a:r>
          </a:p>
          <a:p>
            <a:pPr marL="285750" indent="-285750">
              <a:buFont typeface="Arial" panose="020B0604020202020204" pitchFamily="34" charset="0"/>
              <a:buChar char="•"/>
            </a:pPr>
            <a:r>
              <a:rPr lang="en-US" dirty="0">
                <a:solidFill>
                  <a:schemeClr val="bg2"/>
                </a:solidFill>
              </a:rPr>
              <a:t>Build and test the product</a:t>
            </a:r>
          </a:p>
          <a:p>
            <a:pPr marL="285750" indent="-285750">
              <a:buFont typeface="Arial" panose="020B0604020202020204" pitchFamily="34" charset="0"/>
              <a:buChar char="•"/>
            </a:pPr>
            <a:r>
              <a:rPr lang="en-US" dirty="0">
                <a:solidFill>
                  <a:schemeClr val="bg2"/>
                </a:solidFill>
              </a:rPr>
              <a:t>Serve as the individuals that create the end-product that goes to the client</a:t>
            </a:r>
          </a:p>
        </p:txBody>
      </p:sp>
    </p:spTree>
    <p:extLst>
      <p:ext uri="{BB962C8B-B14F-4D97-AF65-F5344CB8AC3E}">
        <p14:creationId xmlns:p14="http://schemas.microsoft.com/office/powerpoint/2010/main" val="1566794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1DBE5-A478-8E56-D8FB-CA79E84CBD36}"/>
              </a:ext>
            </a:extLst>
          </p:cNvPr>
          <p:cNvSpPr>
            <a:spLocks noGrp="1"/>
          </p:cNvSpPr>
          <p:nvPr>
            <p:ph type="title"/>
          </p:nvPr>
        </p:nvSpPr>
        <p:spPr>
          <a:xfrm>
            <a:off x="612647" y="304799"/>
            <a:ext cx="10963655" cy="762001"/>
          </a:xfrm>
        </p:spPr>
        <p:txBody>
          <a:bodyPr/>
          <a:lstStyle/>
          <a:p>
            <a:r>
              <a:rPr lang="en-US" dirty="0">
                <a:solidFill>
                  <a:schemeClr val="bg2"/>
                </a:solidFill>
              </a:rPr>
              <a:t>Agile Phases in SDLC</a:t>
            </a:r>
          </a:p>
        </p:txBody>
      </p:sp>
      <p:sp>
        <p:nvSpPr>
          <p:cNvPr id="3" name="Content Placeholder 2">
            <a:extLst>
              <a:ext uri="{FF2B5EF4-FFF2-40B4-BE49-F238E27FC236}">
                <a16:creationId xmlns:a16="http://schemas.microsoft.com/office/drawing/2014/main" id="{EB8D2F5B-FD9D-0A85-6430-9FE5F3ED4F26}"/>
              </a:ext>
            </a:extLst>
          </p:cNvPr>
          <p:cNvSpPr>
            <a:spLocks noGrp="1"/>
          </p:cNvSpPr>
          <p:nvPr>
            <p:ph idx="1"/>
          </p:nvPr>
        </p:nvSpPr>
        <p:spPr>
          <a:xfrm>
            <a:off x="612647" y="1143000"/>
            <a:ext cx="5254753" cy="5638800"/>
          </a:xfrm>
        </p:spPr>
        <p:txBody>
          <a:bodyPr/>
          <a:lstStyle/>
          <a:p>
            <a:pPr marL="285750" indent="-285750">
              <a:buFont typeface="Arial" panose="020B0604020202020204" pitchFamily="34" charset="0"/>
              <a:buChar char="•"/>
            </a:pPr>
            <a:r>
              <a:rPr lang="en-US" b="1" dirty="0">
                <a:solidFill>
                  <a:schemeClr val="bg2"/>
                </a:solidFill>
              </a:rPr>
              <a:t>Requirements and Analysis</a:t>
            </a:r>
          </a:p>
          <a:p>
            <a:pPr marL="514350" lvl="1" indent="-285750">
              <a:buFont typeface="Arial" panose="020B0604020202020204" pitchFamily="34" charset="0"/>
              <a:buChar char="•"/>
            </a:pPr>
            <a:r>
              <a:rPr lang="en-US" dirty="0">
                <a:solidFill>
                  <a:schemeClr val="bg2"/>
                </a:solidFill>
              </a:rPr>
              <a:t>Gathering and prioritized requirements</a:t>
            </a:r>
          </a:p>
          <a:p>
            <a:pPr marL="514350" lvl="1" indent="-285750">
              <a:buFont typeface="Arial" panose="020B0604020202020204" pitchFamily="34" charset="0"/>
              <a:buChar char="•"/>
            </a:pPr>
            <a:r>
              <a:rPr lang="en-US" dirty="0">
                <a:solidFill>
                  <a:schemeClr val="bg2"/>
                </a:solidFill>
              </a:rPr>
              <a:t>Stakeholder collaboration and backlog refinement </a:t>
            </a:r>
          </a:p>
          <a:p>
            <a:pPr marL="514350" lvl="1" indent="-285750">
              <a:buFont typeface="Arial" panose="020B0604020202020204" pitchFamily="34" charset="0"/>
              <a:buChar char="•"/>
            </a:pPr>
            <a:r>
              <a:rPr lang="en-US" dirty="0">
                <a:solidFill>
                  <a:schemeClr val="bg2"/>
                </a:solidFill>
              </a:rPr>
              <a:t>Determining essential features</a:t>
            </a:r>
          </a:p>
          <a:p>
            <a:pPr marL="514350" lvl="1" indent="-285750">
              <a:buFont typeface="Arial" panose="020B0604020202020204" pitchFamily="34" charset="0"/>
              <a:buChar char="•"/>
            </a:pPr>
            <a:r>
              <a:rPr lang="en-US" dirty="0">
                <a:solidFill>
                  <a:schemeClr val="bg2"/>
                </a:solidFill>
              </a:rPr>
              <a:t>Early risk assessment </a:t>
            </a:r>
          </a:p>
          <a:p>
            <a:pPr marL="285750" indent="-285750">
              <a:buFont typeface="Arial" panose="020B0604020202020204" pitchFamily="34" charset="0"/>
              <a:buChar char="•"/>
            </a:pPr>
            <a:r>
              <a:rPr lang="en-US" b="1" dirty="0">
                <a:solidFill>
                  <a:schemeClr val="bg2"/>
                </a:solidFill>
              </a:rPr>
              <a:t>Project Planning</a:t>
            </a:r>
          </a:p>
          <a:p>
            <a:pPr marL="514350" lvl="1" indent="-285750">
              <a:buFont typeface="Arial" panose="020B0604020202020204" pitchFamily="34" charset="0"/>
              <a:buChar char="•"/>
            </a:pPr>
            <a:r>
              <a:rPr lang="en-US" dirty="0">
                <a:solidFill>
                  <a:schemeClr val="bg2"/>
                </a:solidFill>
              </a:rPr>
              <a:t>Formation of teams</a:t>
            </a:r>
          </a:p>
          <a:p>
            <a:pPr marL="514350" lvl="1" indent="-285750">
              <a:buFont typeface="Arial" panose="020B0604020202020204" pitchFamily="34" charset="0"/>
              <a:buChar char="•"/>
            </a:pPr>
            <a:r>
              <a:rPr lang="en-US" dirty="0">
                <a:solidFill>
                  <a:schemeClr val="bg2"/>
                </a:solidFill>
              </a:rPr>
              <a:t>Defining timelines and essential goals</a:t>
            </a:r>
          </a:p>
          <a:p>
            <a:pPr marL="514350" lvl="1" indent="-285750">
              <a:buFont typeface="Arial" panose="020B0604020202020204" pitchFamily="34" charset="0"/>
              <a:buChar char="•"/>
            </a:pPr>
            <a:r>
              <a:rPr lang="en-US" dirty="0">
                <a:solidFill>
                  <a:schemeClr val="bg2"/>
                </a:solidFill>
              </a:rPr>
              <a:t>Setting up essential resources </a:t>
            </a:r>
          </a:p>
          <a:p>
            <a:pPr marL="514350" lvl="1" indent="-285750">
              <a:buFont typeface="Arial" panose="020B0604020202020204" pitchFamily="34" charset="0"/>
              <a:buChar char="•"/>
            </a:pPr>
            <a:r>
              <a:rPr lang="en-US" dirty="0">
                <a:solidFill>
                  <a:schemeClr val="bg2"/>
                </a:solidFill>
              </a:rPr>
              <a:t>Creating prototypes for visualization</a:t>
            </a:r>
          </a:p>
          <a:p>
            <a:pPr marL="285750" indent="-285750">
              <a:buFont typeface="Arial" panose="020B0604020202020204" pitchFamily="34" charset="0"/>
              <a:buChar char="•"/>
            </a:pPr>
            <a:r>
              <a:rPr lang="en-US" b="1" dirty="0">
                <a:solidFill>
                  <a:schemeClr val="bg2"/>
                </a:solidFill>
              </a:rPr>
              <a:t>Design</a:t>
            </a:r>
          </a:p>
          <a:p>
            <a:pPr marL="514350" lvl="1" indent="-285750">
              <a:buFont typeface="Arial" panose="020B0604020202020204" pitchFamily="34" charset="0"/>
              <a:buChar char="•"/>
            </a:pPr>
            <a:r>
              <a:rPr lang="en-US" dirty="0">
                <a:solidFill>
                  <a:schemeClr val="bg2"/>
                </a:solidFill>
              </a:rPr>
              <a:t>User stories translated into technical tasks and breaking them down into smaller tasks</a:t>
            </a:r>
          </a:p>
          <a:p>
            <a:pPr marL="514350" lvl="1" indent="-285750">
              <a:buFont typeface="Arial" panose="020B0604020202020204" pitchFamily="34" charset="0"/>
              <a:buChar char="•"/>
            </a:pPr>
            <a:r>
              <a:rPr lang="en-US" dirty="0">
                <a:solidFill>
                  <a:schemeClr val="bg2"/>
                </a:solidFill>
              </a:rPr>
              <a:t>Creating of system diagrams</a:t>
            </a:r>
          </a:p>
          <a:p>
            <a:pPr marL="514350" lvl="1" indent="-285750">
              <a:buFont typeface="Arial" panose="020B0604020202020204" pitchFamily="34" charset="0"/>
              <a:buChar char="•"/>
            </a:pPr>
            <a:r>
              <a:rPr lang="en-US" dirty="0">
                <a:solidFill>
                  <a:schemeClr val="bg2"/>
                </a:solidFill>
              </a:rPr>
              <a:t>Early designs help validate concepts and make refinements before development begins</a:t>
            </a:r>
          </a:p>
          <a:p>
            <a:pPr marL="285750" indent="-285750">
              <a:buFont typeface="Arial" panose="020B0604020202020204" pitchFamily="34" charset="0"/>
              <a:buChar char="•"/>
            </a:pPr>
            <a:r>
              <a:rPr lang="en-US" b="1" dirty="0">
                <a:solidFill>
                  <a:schemeClr val="bg2"/>
                </a:solidFill>
              </a:rPr>
              <a:t>Coding and Implementation</a:t>
            </a:r>
          </a:p>
          <a:p>
            <a:pPr marL="514350" lvl="1" indent="-285750">
              <a:buFont typeface="Arial" panose="020B0604020202020204" pitchFamily="34" charset="0"/>
              <a:buChar char="•"/>
            </a:pPr>
            <a:r>
              <a:rPr lang="en-US" dirty="0">
                <a:solidFill>
                  <a:schemeClr val="bg2"/>
                </a:solidFill>
              </a:rPr>
              <a:t>Code is continuously written and refined</a:t>
            </a:r>
          </a:p>
          <a:p>
            <a:pPr marL="514350" lvl="1" indent="-285750">
              <a:buFont typeface="Arial" panose="020B0604020202020204" pitchFamily="34" charset="0"/>
              <a:buChar char="•"/>
            </a:pPr>
            <a:r>
              <a:rPr lang="en-US" dirty="0">
                <a:solidFill>
                  <a:schemeClr val="bg2"/>
                </a:solidFill>
              </a:rPr>
              <a:t>Collaborative programming and peer reviews ensure changes are implemented efficiently.</a:t>
            </a:r>
          </a:p>
          <a:p>
            <a:pPr lvl="1"/>
            <a:endParaRPr lang="en-US" dirty="0">
              <a:solidFill>
                <a:schemeClr val="bg2"/>
              </a:solidFill>
            </a:endParaRPr>
          </a:p>
        </p:txBody>
      </p:sp>
      <p:sp>
        <p:nvSpPr>
          <p:cNvPr id="5" name="Content Placeholder 2">
            <a:extLst>
              <a:ext uri="{FF2B5EF4-FFF2-40B4-BE49-F238E27FC236}">
                <a16:creationId xmlns:a16="http://schemas.microsoft.com/office/drawing/2014/main" id="{2CD9D698-2958-1D4F-8474-A177C8B649C0}"/>
              </a:ext>
            </a:extLst>
          </p:cNvPr>
          <p:cNvSpPr txBox="1">
            <a:spLocks/>
          </p:cNvSpPr>
          <p:nvPr/>
        </p:nvSpPr>
        <p:spPr>
          <a:xfrm>
            <a:off x="6321550" y="1143000"/>
            <a:ext cx="5254753" cy="5638800"/>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4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b="1" dirty="0">
                <a:solidFill>
                  <a:schemeClr val="bg2"/>
                </a:solidFill>
              </a:rPr>
              <a:t>Testing</a:t>
            </a:r>
          </a:p>
          <a:p>
            <a:pPr marL="514350" lvl="1" indent="-285750">
              <a:buFont typeface="Arial" panose="020B0604020202020204" pitchFamily="34" charset="0"/>
              <a:buChar char="•"/>
            </a:pPr>
            <a:r>
              <a:rPr lang="en-US" dirty="0">
                <a:solidFill>
                  <a:schemeClr val="bg2"/>
                </a:solidFill>
              </a:rPr>
              <a:t>Unit, integration and regression testing ensure changes do not affect functionality</a:t>
            </a:r>
          </a:p>
          <a:p>
            <a:pPr marL="514350" lvl="1" indent="-285750">
              <a:buFont typeface="Arial" panose="020B0604020202020204" pitchFamily="34" charset="0"/>
              <a:buChar char="•"/>
            </a:pPr>
            <a:r>
              <a:rPr lang="en-US" dirty="0">
                <a:solidFill>
                  <a:schemeClr val="bg2"/>
                </a:solidFill>
              </a:rPr>
              <a:t>User expectations are met by conduction User Acceptance Testing</a:t>
            </a:r>
          </a:p>
          <a:p>
            <a:pPr marL="514350" lvl="1" indent="-285750">
              <a:buFont typeface="Arial" panose="020B0604020202020204" pitchFamily="34" charset="0"/>
              <a:buChar char="•"/>
            </a:pPr>
            <a:r>
              <a:rPr lang="en-US" dirty="0">
                <a:solidFill>
                  <a:schemeClr val="bg2"/>
                </a:solidFill>
              </a:rPr>
              <a:t>Software increment stability it tested using Continuous testing</a:t>
            </a:r>
          </a:p>
          <a:p>
            <a:pPr marL="285750" indent="-285750">
              <a:buFont typeface="Arial" panose="020B0604020202020204" pitchFamily="34" charset="0"/>
              <a:buChar char="•"/>
            </a:pPr>
            <a:r>
              <a:rPr lang="en-US" b="1" dirty="0">
                <a:solidFill>
                  <a:schemeClr val="bg2"/>
                </a:solidFill>
              </a:rPr>
              <a:t>Deployment</a:t>
            </a:r>
          </a:p>
          <a:p>
            <a:pPr marL="514350" lvl="1" indent="-285750">
              <a:buFont typeface="Arial" panose="020B0604020202020204" pitchFamily="34" charset="0"/>
              <a:buChar char="•"/>
            </a:pPr>
            <a:r>
              <a:rPr lang="en-US" dirty="0">
                <a:solidFill>
                  <a:schemeClr val="bg2"/>
                </a:solidFill>
              </a:rPr>
              <a:t>Deployment is frequent and incremental, providing users with continuous improvements</a:t>
            </a:r>
          </a:p>
          <a:p>
            <a:pPr marL="514350" lvl="1" indent="-285750">
              <a:buFont typeface="Arial" panose="020B0604020202020204" pitchFamily="34" charset="0"/>
              <a:buChar char="•"/>
            </a:pPr>
            <a:r>
              <a:rPr lang="en-US" dirty="0">
                <a:solidFill>
                  <a:schemeClr val="bg2"/>
                </a:solidFill>
              </a:rPr>
              <a:t>Automated deployment minimizes downtime</a:t>
            </a:r>
          </a:p>
          <a:p>
            <a:pPr marL="514350" lvl="1" indent="-285750">
              <a:buFont typeface="Arial" panose="020B0604020202020204" pitchFamily="34" charset="0"/>
              <a:buChar char="•"/>
            </a:pPr>
            <a:r>
              <a:rPr lang="en-US" dirty="0">
                <a:solidFill>
                  <a:schemeClr val="bg2"/>
                </a:solidFill>
              </a:rPr>
              <a:t>Users receive training to ensure they understand the product</a:t>
            </a:r>
          </a:p>
          <a:p>
            <a:pPr marL="285750" indent="-285750">
              <a:buFont typeface="Arial" panose="020B0604020202020204" pitchFamily="34" charset="0"/>
              <a:buChar char="•"/>
            </a:pPr>
            <a:r>
              <a:rPr lang="en-US" b="1" dirty="0">
                <a:solidFill>
                  <a:schemeClr val="bg2"/>
                </a:solidFill>
              </a:rPr>
              <a:t>Maintenance</a:t>
            </a:r>
          </a:p>
          <a:p>
            <a:pPr marL="514350" lvl="1" indent="-285750">
              <a:buFont typeface="Arial" panose="020B0604020202020204" pitchFamily="34" charset="0"/>
              <a:buChar char="•"/>
            </a:pPr>
            <a:r>
              <a:rPr lang="en-US" dirty="0">
                <a:solidFill>
                  <a:schemeClr val="bg2"/>
                </a:solidFill>
              </a:rPr>
              <a:t>Product performance is tracked</a:t>
            </a:r>
          </a:p>
          <a:p>
            <a:pPr marL="514350" lvl="1" indent="-285750">
              <a:buFont typeface="Arial" panose="020B0604020202020204" pitchFamily="34" charset="0"/>
              <a:buChar char="•"/>
            </a:pPr>
            <a:r>
              <a:rPr lang="en-US" dirty="0">
                <a:solidFill>
                  <a:schemeClr val="bg2"/>
                </a:solidFill>
              </a:rPr>
              <a:t>User feedback is gathered</a:t>
            </a:r>
          </a:p>
          <a:p>
            <a:pPr marL="514350" lvl="1" indent="-285750">
              <a:buFont typeface="Arial" panose="020B0604020202020204" pitchFamily="34" charset="0"/>
              <a:buChar char="•"/>
            </a:pPr>
            <a:r>
              <a:rPr lang="en-US" dirty="0">
                <a:solidFill>
                  <a:schemeClr val="bg2"/>
                </a:solidFill>
              </a:rPr>
              <a:t>Teams continue to push out incremental updates</a:t>
            </a:r>
          </a:p>
          <a:p>
            <a:pPr marL="514350" lvl="1" indent="-285750">
              <a:buFont typeface="Arial" panose="020B0604020202020204" pitchFamily="34" charset="0"/>
              <a:buChar char="•"/>
            </a:pPr>
            <a:r>
              <a:rPr lang="en-US" dirty="0">
                <a:solidFill>
                  <a:schemeClr val="bg2"/>
                </a:solidFill>
              </a:rPr>
              <a:t>Post deployment support for long-term reliability </a:t>
            </a:r>
          </a:p>
          <a:p>
            <a:pPr lvl="1"/>
            <a:r>
              <a:rPr lang="en-US" dirty="0">
                <a:solidFill>
                  <a:schemeClr val="bg2"/>
                </a:solidFill>
              </a:rPr>
              <a:t>(KMS Technology, 2025).</a:t>
            </a:r>
          </a:p>
        </p:txBody>
      </p:sp>
    </p:spTree>
    <p:extLst>
      <p:ext uri="{BB962C8B-B14F-4D97-AF65-F5344CB8AC3E}">
        <p14:creationId xmlns:p14="http://schemas.microsoft.com/office/powerpoint/2010/main" val="2483705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75571-BE88-C3FF-3F2D-11622590BD3E}"/>
              </a:ext>
            </a:extLst>
          </p:cNvPr>
          <p:cNvSpPr>
            <a:spLocks noGrp="1"/>
          </p:cNvSpPr>
          <p:nvPr>
            <p:ph type="title"/>
          </p:nvPr>
        </p:nvSpPr>
        <p:spPr/>
        <p:txBody>
          <a:bodyPr/>
          <a:lstStyle/>
          <a:p>
            <a:r>
              <a:rPr lang="en-US" dirty="0">
                <a:solidFill>
                  <a:schemeClr val="bg2"/>
                </a:solidFill>
              </a:rPr>
              <a:t>Waterfall method</a:t>
            </a:r>
          </a:p>
        </p:txBody>
      </p:sp>
      <p:sp>
        <p:nvSpPr>
          <p:cNvPr id="3" name="Content Placeholder 2">
            <a:extLst>
              <a:ext uri="{FF2B5EF4-FFF2-40B4-BE49-F238E27FC236}">
                <a16:creationId xmlns:a16="http://schemas.microsoft.com/office/drawing/2014/main" id="{9C68E101-9AF8-75C3-6854-A26E9EB024DC}"/>
              </a:ext>
            </a:extLst>
          </p:cNvPr>
          <p:cNvSpPr>
            <a:spLocks noGrp="1"/>
          </p:cNvSpPr>
          <p:nvPr>
            <p:ph idx="1"/>
          </p:nvPr>
        </p:nvSpPr>
        <p:spPr>
          <a:xfrm>
            <a:off x="612647" y="1828800"/>
            <a:ext cx="5178553" cy="4343400"/>
          </a:xfrm>
        </p:spPr>
        <p:txBody>
          <a:bodyPr vert="horz" lIns="91440" tIns="45720" rIns="91440" bIns="45720" rtlCol="0">
            <a:noAutofit/>
          </a:bodyPr>
          <a:lstStyle/>
          <a:p>
            <a:r>
              <a:rPr lang="en-US" dirty="0">
                <a:solidFill>
                  <a:schemeClr val="bg2"/>
                </a:solidFill>
              </a:rPr>
              <a:t>The Waterfall Method: </a:t>
            </a:r>
          </a:p>
          <a:p>
            <a:r>
              <a:rPr lang="en-US" dirty="0">
                <a:solidFill>
                  <a:schemeClr val="bg2"/>
                </a:solidFill>
              </a:rPr>
              <a:t>Is well structured and easy to manage</a:t>
            </a:r>
          </a:p>
          <a:p>
            <a:r>
              <a:rPr lang="en-US" dirty="0">
                <a:solidFill>
                  <a:schemeClr val="bg2"/>
                </a:solidFill>
              </a:rPr>
              <a:t>Detailed planning for each phase</a:t>
            </a:r>
          </a:p>
          <a:p>
            <a:r>
              <a:rPr lang="en-US" dirty="0">
                <a:solidFill>
                  <a:schemeClr val="bg2"/>
                </a:solidFill>
              </a:rPr>
              <a:t>Highly predictable</a:t>
            </a:r>
          </a:p>
          <a:p>
            <a:r>
              <a:rPr lang="en-US" dirty="0">
                <a:solidFill>
                  <a:schemeClr val="bg2"/>
                </a:solidFill>
              </a:rPr>
              <a:t>Structured phases</a:t>
            </a:r>
          </a:p>
          <a:p>
            <a:r>
              <a:rPr lang="en-US" dirty="0">
                <a:solidFill>
                  <a:schemeClr val="bg2"/>
                </a:solidFill>
              </a:rPr>
              <a:t>Phases must be completed before the next phase can begin</a:t>
            </a:r>
          </a:p>
          <a:p>
            <a:r>
              <a:rPr lang="en-US" dirty="0">
                <a:solidFill>
                  <a:schemeClr val="bg2"/>
                </a:solidFill>
              </a:rPr>
              <a:t>Detailed documentation during each phase</a:t>
            </a:r>
          </a:p>
          <a:p>
            <a:r>
              <a:rPr lang="en-US" dirty="0">
                <a:solidFill>
                  <a:schemeClr val="bg2"/>
                </a:solidFill>
              </a:rPr>
              <a:t>Users feedback comes at the end of the cycle </a:t>
            </a:r>
          </a:p>
          <a:p>
            <a:r>
              <a:rPr lang="en-US" dirty="0">
                <a:solidFill>
                  <a:schemeClr val="bg2"/>
                </a:solidFill>
              </a:rPr>
              <a:t>(</a:t>
            </a:r>
            <a:r>
              <a:rPr lang="en-US" dirty="0" err="1">
                <a:solidFill>
                  <a:schemeClr val="bg2"/>
                </a:solidFill>
              </a:rPr>
              <a:t>GeeksforGeeks</a:t>
            </a:r>
            <a:r>
              <a:rPr lang="en-US" dirty="0">
                <a:solidFill>
                  <a:schemeClr val="bg2"/>
                </a:solidFill>
              </a:rPr>
              <a:t>, 2026).</a:t>
            </a:r>
          </a:p>
        </p:txBody>
      </p:sp>
      <p:sp>
        <p:nvSpPr>
          <p:cNvPr id="4" name="Content Placeholder 2">
            <a:extLst>
              <a:ext uri="{FF2B5EF4-FFF2-40B4-BE49-F238E27FC236}">
                <a16:creationId xmlns:a16="http://schemas.microsoft.com/office/drawing/2014/main" id="{E9F9B2C2-1C50-6B5F-13F8-3CCCD565BDBA}"/>
              </a:ext>
            </a:extLst>
          </p:cNvPr>
          <p:cNvSpPr txBox="1">
            <a:spLocks/>
          </p:cNvSpPr>
          <p:nvPr/>
        </p:nvSpPr>
        <p:spPr>
          <a:xfrm>
            <a:off x="6400802" y="1828800"/>
            <a:ext cx="5178553" cy="4343400"/>
          </a:xfrm>
          <a:prstGeom prst="rect">
            <a:avLst/>
          </a:prstGeom>
        </p:spPr>
        <p:txBody>
          <a:bodyPr vert="horz" lIns="91440" tIns="45720" rIns="91440" bIns="45720" rtlCol="0">
            <a:noAutofit/>
          </a:bodyPr>
          <a:lstStyle>
            <a:lvl1pPr indent="0">
              <a:lnSpc>
                <a:spcPct val="100000"/>
              </a:lnSpc>
              <a:spcBef>
                <a:spcPts val="1000"/>
              </a:spcBef>
              <a:buFont typeface="Arial" panose="020B0604020202020204" pitchFamily="34" charset="0"/>
              <a:buNone/>
              <a:defRPr sz="1400" b="0" i="0">
                <a:solidFill>
                  <a:schemeClr val="bg2"/>
                </a:solidFill>
              </a:defRPr>
            </a:lvl1pPr>
            <a:lvl2pPr marL="228600" indent="0">
              <a:lnSpc>
                <a:spcPct val="100000"/>
              </a:lnSpc>
              <a:spcBef>
                <a:spcPts val="500"/>
              </a:spcBef>
              <a:buFont typeface="Arial" panose="020B0604020202020204" pitchFamily="34" charset="0"/>
              <a:buNone/>
              <a:defRPr sz="1400" b="0" i="0">
                <a:solidFill>
                  <a:schemeClr val="tx2"/>
                </a:solidFill>
              </a:defRPr>
            </a:lvl2pPr>
            <a:lvl3pPr marL="457200" indent="0">
              <a:lnSpc>
                <a:spcPct val="100000"/>
              </a:lnSpc>
              <a:spcBef>
                <a:spcPts val="500"/>
              </a:spcBef>
              <a:buFont typeface="Arial" panose="020B0604020202020204" pitchFamily="34" charset="0"/>
              <a:buNone/>
              <a:defRPr sz="1400" b="0" i="0">
                <a:solidFill>
                  <a:schemeClr val="tx2"/>
                </a:solidFill>
              </a:defRPr>
            </a:lvl3pPr>
            <a:lvl4pPr marL="685800" indent="0">
              <a:lnSpc>
                <a:spcPct val="100000"/>
              </a:lnSpc>
              <a:spcBef>
                <a:spcPts val="500"/>
              </a:spcBef>
              <a:buFont typeface="Arial" panose="020B0604020202020204" pitchFamily="34" charset="0"/>
              <a:buNone/>
              <a:defRPr sz="1400" b="0" i="0">
                <a:solidFill>
                  <a:schemeClr val="tx2"/>
                </a:solidFill>
              </a:defRPr>
            </a:lvl4pPr>
            <a:lvl5pPr marL="914400" indent="0">
              <a:lnSpc>
                <a:spcPct val="100000"/>
              </a:lnSpc>
              <a:spcBef>
                <a:spcPts val="500"/>
              </a:spcBef>
              <a:buFont typeface="Arial" panose="020B0604020202020204" pitchFamily="34" charset="0"/>
              <a:buNone/>
              <a:defRPr sz="1400" b="0" i="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How would using Waterfall have been different?</a:t>
            </a:r>
          </a:p>
          <a:p>
            <a:r>
              <a:rPr lang="en-US" dirty="0"/>
              <a:t>The main difference would have been noticed when SNHU Travel wanted to change directions after development had begun. With Scrum-Agile, we were able to adjust the product backlog to compensate for the change and still deliver the final product on time. If we had been using a Waterfall method, there would have little room to compensate the change. Detailed planning takes place at the beginning of a project using Waterfall, so each phase has already been strictly planned to meet the timeline. If a change would have been introduced unexpectantly, and we were using the Waterfall Method, we would not have been able to compensate as efficiently. This would have resulted in either the change not being implemented, or the timeline for release to be delayed.</a:t>
            </a:r>
          </a:p>
        </p:txBody>
      </p:sp>
    </p:spTree>
    <p:extLst>
      <p:ext uri="{BB962C8B-B14F-4D97-AF65-F5344CB8AC3E}">
        <p14:creationId xmlns:p14="http://schemas.microsoft.com/office/powerpoint/2010/main" val="3527646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1220B-F313-052E-A44A-576212EA0EC2}"/>
              </a:ext>
            </a:extLst>
          </p:cNvPr>
          <p:cNvSpPr>
            <a:spLocks noGrp="1"/>
          </p:cNvSpPr>
          <p:nvPr>
            <p:ph type="title"/>
          </p:nvPr>
        </p:nvSpPr>
        <p:spPr/>
        <p:txBody>
          <a:bodyPr/>
          <a:lstStyle/>
          <a:p>
            <a:r>
              <a:rPr lang="en-US" dirty="0">
                <a:solidFill>
                  <a:schemeClr val="bg2"/>
                </a:solidFill>
              </a:rPr>
              <a:t>Waterfall or agile approach</a:t>
            </a:r>
          </a:p>
        </p:txBody>
      </p:sp>
      <p:sp>
        <p:nvSpPr>
          <p:cNvPr id="3" name="Content Placeholder 2">
            <a:extLst>
              <a:ext uri="{FF2B5EF4-FFF2-40B4-BE49-F238E27FC236}">
                <a16:creationId xmlns:a16="http://schemas.microsoft.com/office/drawing/2014/main" id="{7727A6DB-54CC-8FBA-C67A-5D13EE168FE9}"/>
              </a:ext>
            </a:extLst>
          </p:cNvPr>
          <p:cNvSpPr>
            <a:spLocks noGrp="1"/>
          </p:cNvSpPr>
          <p:nvPr>
            <p:ph idx="1"/>
          </p:nvPr>
        </p:nvSpPr>
        <p:spPr>
          <a:xfrm>
            <a:off x="612647" y="1828800"/>
            <a:ext cx="5254753" cy="4343400"/>
          </a:xfrm>
        </p:spPr>
        <p:txBody>
          <a:bodyPr/>
          <a:lstStyle/>
          <a:p>
            <a:r>
              <a:rPr lang="en-US" dirty="0">
                <a:solidFill>
                  <a:schemeClr val="bg2"/>
                </a:solidFill>
              </a:rPr>
              <a:t>When to use Waterfall:</a:t>
            </a:r>
          </a:p>
          <a:p>
            <a:pPr marL="285750" indent="-285750">
              <a:buFont typeface="Arial" panose="020B0604020202020204" pitchFamily="34" charset="0"/>
              <a:buChar char="•"/>
            </a:pPr>
            <a:r>
              <a:rPr lang="en-US" dirty="0">
                <a:solidFill>
                  <a:schemeClr val="bg2"/>
                </a:solidFill>
              </a:rPr>
              <a:t>Requirements are well defined</a:t>
            </a:r>
          </a:p>
          <a:p>
            <a:pPr marL="285750" indent="-285750">
              <a:buFont typeface="Arial" panose="020B0604020202020204" pitchFamily="34" charset="0"/>
              <a:buChar char="•"/>
            </a:pPr>
            <a:r>
              <a:rPr lang="en-US" dirty="0">
                <a:solidFill>
                  <a:schemeClr val="bg2"/>
                </a:solidFill>
              </a:rPr>
              <a:t>Minimal changes are expected</a:t>
            </a:r>
          </a:p>
          <a:p>
            <a:pPr marL="285750" indent="-285750">
              <a:buFont typeface="Arial" panose="020B0604020202020204" pitchFamily="34" charset="0"/>
              <a:buChar char="•"/>
            </a:pPr>
            <a:r>
              <a:rPr lang="en-US" dirty="0">
                <a:solidFill>
                  <a:schemeClr val="bg2"/>
                </a:solidFill>
              </a:rPr>
              <a:t>Risks are well known</a:t>
            </a:r>
          </a:p>
          <a:p>
            <a:pPr marL="285750" indent="-285750">
              <a:buFont typeface="Arial" panose="020B0604020202020204" pitchFamily="34" charset="0"/>
              <a:buChar char="•"/>
            </a:pPr>
            <a:r>
              <a:rPr lang="en-US" dirty="0">
                <a:solidFill>
                  <a:schemeClr val="bg2"/>
                </a:solidFill>
              </a:rPr>
              <a:t>Limited resources</a:t>
            </a:r>
          </a:p>
          <a:p>
            <a:pPr marL="285750" indent="-285750">
              <a:buFont typeface="Arial" panose="020B0604020202020204" pitchFamily="34" charset="0"/>
              <a:buChar char="•"/>
            </a:pPr>
            <a:r>
              <a:rPr lang="en-US" dirty="0">
                <a:solidFill>
                  <a:schemeClr val="bg2"/>
                </a:solidFill>
              </a:rPr>
              <a:t>The project must comply with strong regulations </a:t>
            </a:r>
          </a:p>
          <a:p>
            <a:r>
              <a:rPr lang="en-US" dirty="0">
                <a:solidFill>
                  <a:schemeClr val="bg2"/>
                </a:solidFill>
              </a:rPr>
              <a:t>(</a:t>
            </a:r>
            <a:r>
              <a:rPr lang="en-US" dirty="0" err="1">
                <a:solidFill>
                  <a:schemeClr val="bg2"/>
                </a:solidFill>
              </a:rPr>
              <a:t>GeeksforGeeks</a:t>
            </a:r>
            <a:r>
              <a:rPr lang="en-US" dirty="0">
                <a:solidFill>
                  <a:schemeClr val="bg2"/>
                </a:solidFill>
              </a:rPr>
              <a:t>, 2026).</a:t>
            </a:r>
          </a:p>
          <a:p>
            <a:r>
              <a:rPr lang="en-US" dirty="0">
                <a:solidFill>
                  <a:schemeClr val="bg2"/>
                </a:solidFill>
              </a:rPr>
              <a:t>When to use Agile:</a:t>
            </a:r>
          </a:p>
          <a:p>
            <a:pPr marL="285750" indent="-285750">
              <a:buFont typeface="Arial" panose="020B0604020202020204" pitchFamily="34" charset="0"/>
              <a:buChar char="•"/>
            </a:pPr>
            <a:r>
              <a:rPr lang="en-US" dirty="0">
                <a:solidFill>
                  <a:schemeClr val="bg2"/>
                </a:solidFill>
              </a:rPr>
              <a:t>Requirements may change</a:t>
            </a:r>
          </a:p>
          <a:p>
            <a:pPr marL="285750" indent="-285750">
              <a:buFont typeface="Arial" panose="020B0604020202020204" pitchFamily="34" charset="0"/>
              <a:buChar char="•"/>
            </a:pPr>
            <a:r>
              <a:rPr lang="en-US" dirty="0">
                <a:solidFill>
                  <a:schemeClr val="bg2"/>
                </a:solidFill>
              </a:rPr>
              <a:t>Changes are expected</a:t>
            </a:r>
          </a:p>
          <a:p>
            <a:pPr marL="285750" indent="-285750">
              <a:buFont typeface="Arial" panose="020B0604020202020204" pitchFamily="34" charset="0"/>
              <a:buChar char="•"/>
            </a:pPr>
            <a:r>
              <a:rPr lang="en-US" dirty="0">
                <a:solidFill>
                  <a:schemeClr val="bg2"/>
                </a:solidFill>
              </a:rPr>
              <a:t>There are unknown risks</a:t>
            </a:r>
          </a:p>
          <a:p>
            <a:pPr marL="285750" indent="-285750">
              <a:buFont typeface="Arial" panose="020B0604020202020204" pitchFamily="34" charset="0"/>
              <a:buChar char="•"/>
            </a:pPr>
            <a:r>
              <a:rPr lang="en-US" dirty="0">
                <a:solidFill>
                  <a:schemeClr val="bg2"/>
                </a:solidFill>
              </a:rPr>
              <a:t>Clients want regular feedback </a:t>
            </a:r>
          </a:p>
          <a:p>
            <a:endParaRPr lang="en-US" dirty="0">
              <a:solidFill>
                <a:schemeClr val="bg2"/>
              </a:solidFill>
            </a:endParaRPr>
          </a:p>
        </p:txBody>
      </p:sp>
      <p:sp>
        <p:nvSpPr>
          <p:cNvPr id="4" name="Content Placeholder 2">
            <a:extLst>
              <a:ext uri="{FF2B5EF4-FFF2-40B4-BE49-F238E27FC236}">
                <a16:creationId xmlns:a16="http://schemas.microsoft.com/office/drawing/2014/main" id="{9536BF93-FDED-B46A-B98D-10430D200770}"/>
              </a:ext>
            </a:extLst>
          </p:cNvPr>
          <p:cNvSpPr txBox="1">
            <a:spLocks/>
          </p:cNvSpPr>
          <p:nvPr/>
        </p:nvSpPr>
        <p:spPr>
          <a:xfrm>
            <a:off x="6324602" y="1828800"/>
            <a:ext cx="5254753" cy="4343400"/>
          </a:xfrm>
          <a:prstGeom prst="rect">
            <a:avLst/>
          </a:prstGeom>
        </p:spPr>
        <p:txBody>
          <a:bodyPr vert="horz" lIns="91440" tIns="45720" rIns="91440" bIns="45720" rtlCol="0">
            <a:noAutofit/>
          </a:bodyPr>
          <a:lstStyle>
            <a:lvl1pPr indent="0">
              <a:lnSpc>
                <a:spcPct val="100000"/>
              </a:lnSpc>
              <a:spcBef>
                <a:spcPts val="1000"/>
              </a:spcBef>
              <a:buFont typeface="Arial" panose="020B0604020202020204" pitchFamily="34" charset="0"/>
              <a:buNone/>
              <a:defRPr sz="1400" b="0" i="0">
                <a:solidFill>
                  <a:schemeClr val="bg2"/>
                </a:solidFill>
              </a:defRPr>
            </a:lvl1pPr>
            <a:lvl2pPr marL="228600" indent="0">
              <a:lnSpc>
                <a:spcPct val="100000"/>
              </a:lnSpc>
              <a:spcBef>
                <a:spcPts val="500"/>
              </a:spcBef>
              <a:buFont typeface="Arial" panose="020B0604020202020204" pitchFamily="34" charset="0"/>
              <a:buNone/>
              <a:defRPr sz="1400" b="0" i="0">
                <a:solidFill>
                  <a:schemeClr val="tx2"/>
                </a:solidFill>
              </a:defRPr>
            </a:lvl2pPr>
            <a:lvl3pPr marL="457200" indent="0">
              <a:lnSpc>
                <a:spcPct val="100000"/>
              </a:lnSpc>
              <a:spcBef>
                <a:spcPts val="500"/>
              </a:spcBef>
              <a:buFont typeface="Arial" panose="020B0604020202020204" pitchFamily="34" charset="0"/>
              <a:buNone/>
              <a:defRPr sz="1400" b="0" i="0">
                <a:solidFill>
                  <a:schemeClr val="tx2"/>
                </a:solidFill>
              </a:defRPr>
            </a:lvl3pPr>
            <a:lvl4pPr marL="685800" indent="0">
              <a:lnSpc>
                <a:spcPct val="100000"/>
              </a:lnSpc>
              <a:spcBef>
                <a:spcPts val="500"/>
              </a:spcBef>
              <a:buFont typeface="Arial" panose="020B0604020202020204" pitchFamily="34" charset="0"/>
              <a:buNone/>
              <a:defRPr sz="1400" b="0" i="0">
                <a:solidFill>
                  <a:schemeClr val="tx2"/>
                </a:solidFill>
              </a:defRPr>
            </a:lvl4pPr>
            <a:lvl5pPr marL="914400" indent="0">
              <a:lnSpc>
                <a:spcPct val="100000"/>
              </a:lnSpc>
              <a:spcBef>
                <a:spcPts val="500"/>
              </a:spcBef>
              <a:buFont typeface="Arial" panose="020B0604020202020204" pitchFamily="34" charset="0"/>
              <a:buNone/>
              <a:defRPr sz="1400" b="0" i="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Why was Agile the correct approach?</a:t>
            </a:r>
          </a:p>
          <a:p>
            <a:r>
              <a:rPr lang="en-US" dirty="0"/>
              <a:t>Scrum events such as Daily Scrum and Sprint Planning kept the entire team on the same page regarding project progress</a:t>
            </a:r>
          </a:p>
          <a:p>
            <a:r>
              <a:rPr lang="en-US" dirty="0"/>
              <a:t>Strong communication ensured timely management of complications</a:t>
            </a:r>
          </a:p>
          <a:p>
            <a:r>
              <a:rPr lang="en-US" dirty="0"/>
              <a:t>Changing requirements throughout the project</a:t>
            </a:r>
          </a:p>
          <a:p>
            <a:r>
              <a:rPr lang="en-US" dirty="0"/>
              <a:t>The product backlog gave the team the flexibility to manage changes when they were presented</a:t>
            </a:r>
          </a:p>
          <a:p>
            <a:r>
              <a:rPr lang="en-US" dirty="0"/>
              <a:t>Feedback at the end of each sprint allowed the team to modify practices to benefit the next sprint.</a:t>
            </a:r>
          </a:p>
        </p:txBody>
      </p:sp>
    </p:spTree>
    <p:extLst>
      <p:ext uri="{BB962C8B-B14F-4D97-AF65-F5344CB8AC3E}">
        <p14:creationId xmlns:p14="http://schemas.microsoft.com/office/powerpoint/2010/main" val="2851851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D5E7A-7009-D683-CEBB-7F051471EC84}"/>
              </a:ext>
            </a:extLst>
          </p:cNvPr>
          <p:cNvSpPr>
            <a:spLocks noGrp="1"/>
          </p:cNvSpPr>
          <p:nvPr>
            <p:ph type="title"/>
          </p:nvPr>
        </p:nvSpPr>
        <p:spPr>
          <a:xfrm>
            <a:off x="614677" y="685800"/>
            <a:ext cx="4490723" cy="4102460"/>
          </a:xfrm>
        </p:spPr>
        <p:txBody>
          <a:bodyPr/>
          <a:lstStyle/>
          <a:p>
            <a:r>
              <a:rPr lang="en-US" dirty="0">
                <a:solidFill>
                  <a:srgbClr val="F5F1E3"/>
                </a:solidFill>
              </a:rPr>
              <a:t>References</a:t>
            </a:r>
          </a:p>
        </p:txBody>
      </p:sp>
      <p:sp>
        <p:nvSpPr>
          <p:cNvPr id="3" name="Content Placeholder 2">
            <a:extLst>
              <a:ext uri="{FF2B5EF4-FFF2-40B4-BE49-F238E27FC236}">
                <a16:creationId xmlns:a16="http://schemas.microsoft.com/office/drawing/2014/main" id="{DF2785E7-E2DA-FB36-5B51-84E102C969B0}"/>
              </a:ext>
            </a:extLst>
          </p:cNvPr>
          <p:cNvSpPr>
            <a:spLocks noGrp="1"/>
          </p:cNvSpPr>
          <p:nvPr>
            <p:ph sz="quarter" idx="13"/>
          </p:nvPr>
        </p:nvSpPr>
        <p:spPr>
          <a:xfrm>
            <a:off x="5334000" y="685800"/>
            <a:ext cx="6242303" cy="5455003"/>
          </a:xfrm>
        </p:spPr>
        <p:txBody>
          <a:bodyPr/>
          <a:lstStyle/>
          <a:p>
            <a:pPr marL="457200" indent="-457200"/>
            <a:r>
              <a:rPr lang="en-US" dirty="0" err="1">
                <a:solidFill>
                  <a:schemeClr val="bg2"/>
                </a:solidFill>
              </a:rPr>
              <a:t>GeeksforGeeks</a:t>
            </a:r>
            <a:r>
              <a:rPr lang="en-US" dirty="0">
                <a:solidFill>
                  <a:schemeClr val="bg2"/>
                </a:solidFill>
              </a:rPr>
              <a:t>. (2026, January 15). </a:t>
            </a:r>
            <a:r>
              <a:rPr lang="en-US" i="1" dirty="0">
                <a:solidFill>
                  <a:schemeClr val="bg2"/>
                </a:solidFill>
              </a:rPr>
              <a:t>Waterfall model in software engineering</a:t>
            </a:r>
            <a:r>
              <a:rPr lang="en-US" dirty="0">
                <a:solidFill>
                  <a:schemeClr val="bg2"/>
                </a:solidFill>
              </a:rPr>
              <a:t>. </a:t>
            </a:r>
            <a:r>
              <a:rPr lang="en-US" dirty="0" err="1">
                <a:solidFill>
                  <a:schemeClr val="bg2"/>
                </a:solidFill>
              </a:rPr>
              <a:t>GeeksforGeeks</a:t>
            </a:r>
            <a:r>
              <a:rPr lang="en-US" dirty="0">
                <a:solidFill>
                  <a:schemeClr val="bg2"/>
                </a:solidFill>
              </a:rPr>
              <a:t>. </a:t>
            </a:r>
            <a:r>
              <a:rPr lang="en-US" dirty="0">
                <a:solidFill>
                  <a:srgbClr val="4E60DA"/>
                </a:solidFill>
                <a:hlinkClick r:id="rId2">
                  <a:extLst>
                    <a:ext uri="{A12FA001-AC4F-418D-AE19-62706E023703}">
                      <ahyp:hlinkClr xmlns:ahyp="http://schemas.microsoft.com/office/drawing/2018/hyperlinkcolor" val="tx"/>
                    </a:ext>
                  </a:extLst>
                </a:hlinkClick>
              </a:rPr>
              <a:t>https://www.geeksforgeeks.org/software-engineering/waterfall-model</a:t>
            </a:r>
            <a:r>
              <a:rPr lang="en-US" dirty="0">
                <a:solidFill>
                  <a:schemeClr val="bg2"/>
                </a:solidFill>
                <a:hlinkClick r:id="rId2">
                  <a:extLst>
                    <a:ext uri="{A12FA001-AC4F-418D-AE19-62706E023703}">
                      <ahyp:hlinkClr xmlns:ahyp="http://schemas.microsoft.com/office/drawing/2018/hyperlinkcolor" val="tx"/>
                    </a:ext>
                  </a:extLst>
                </a:hlinkClick>
              </a:rPr>
              <a:t>/</a:t>
            </a:r>
            <a:endParaRPr lang="en-US" dirty="0">
              <a:solidFill>
                <a:schemeClr val="bg2"/>
              </a:solidFill>
            </a:endParaRPr>
          </a:p>
          <a:p>
            <a:pPr marL="457200" indent="-457200"/>
            <a:r>
              <a:rPr lang="en-US" dirty="0">
                <a:solidFill>
                  <a:schemeClr val="bg2"/>
                </a:solidFill>
              </a:rPr>
              <a:t>KMS Technology. (2025, December 23). </a:t>
            </a:r>
            <a:r>
              <a:rPr lang="en-US" i="1" dirty="0">
                <a:solidFill>
                  <a:schemeClr val="bg2"/>
                </a:solidFill>
              </a:rPr>
              <a:t>7 key phases of the Agile software development life cycle</a:t>
            </a:r>
            <a:r>
              <a:rPr lang="en-US" dirty="0">
                <a:solidFill>
                  <a:schemeClr val="bg2"/>
                </a:solidFill>
              </a:rPr>
              <a:t>. KMS Technology. </a:t>
            </a:r>
            <a:r>
              <a:rPr lang="en-US" dirty="0">
                <a:solidFill>
                  <a:srgbClr val="4E60DA"/>
                </a:solidFill>
                <a:hlinkClick r:id="rId3">
                  <a:extLst>
                    <a:ext uri="{A12FA001-AC4F-418D-AE19-62706E023703}">
                      <ahyp:hlinkClr xmlns:ahyp="http://schemas.microsoft.com/office/drawing/2018/hyperlinkcolor" val="tx"/>
                    </a:ext>
                  </a:extLst>
                </a:hlinkClick>
              </a:rPr>
              <a:t>https://kms-technology.com/blog/key-phases-of-agile-software-development-life-cycle</a:t>
            </a:r>
            <a:r>
              <a:rPr lang="en-US" dirty="0">
                <a:solidFill>
                  <a:schemeClr val="bg2"/>
                </a:solidFill>
                <a:hlinkClick r:id="rId3">
                  <a:extLst>
                    <a:ext uri="{A12FA001-AC4F-418D-AE19-62706E023703}">
                      <ahyp:hlinkClr xmlns:ahyp="http://schemas.microsoft.com/office/drawing/2018/hyperlinkcolor" val="tx"/>
                    </a:ext>
                  </a:extLst>
                </a:hlinkClick>
              </a:rPr>
              <a:t>/</a:t>
            </a:r>
            <a:endParaRPr lang="en-US" dirty="0">
              <a:solidFill>
                <a:schemeClr val="bg2"/>
              </a:solidFill>
            </a:endParaRPr>
          </a:p>
          <a:p>
            <a:pPr marL="457200" indent="-457200"/>
            <a:r>
              <a:rPr lang="en-US" dirty="0">
                <a:solidFill>
                  <a:schemeClr val="bg2"/>
                </a:solidFill>
              </a:rPr>
              <a:t>Scrum Alliance. (n.d.). </a:t>
            </a:r>
            <a:r>
              <a:rPr lang="en-US" i="1" dirty="0">
                <a:solidFill>
                  <a:schemeClr val="bg2"/>
                </a:solidFill>
              </a:rPr>
              <a:t>The Scrum Team Roles and Accountabilities. </a:t>
            </a:r>
            <a:r>
              <a:rPr lang="en-US" dirty="0">
                <a:solidFill>
                  <a:schemeClr val="bg2"/>
                </a:solidFill>
              </a:rPr>
              <a:t>Scrum Alliance. </a:t>
            </a:r>
            <a:r>
              <a:rPr lang="en-US" dirty="0">
                <a:solidFill>
                  <a:srgbClr val="4E60DA"/>
                </a:solidFill>
                <a:hlinkClick r:id="rId4">
                  <a:extLst>
                    <a:ext uri="{A12FA001-AC4F-418D-AE19-62706E023703}">
                      <ahyp:hlinkClr xmlns:ahyp="http://schemas.microsoft.com/office/drawing/2018/hyperlinkcolor" val="tx"/>
                    </a:ext>
                  </a:extLst>
                </a:hlinkClick>
              </a:rPr>
              <a:t>https://resources.scrumalliance.org/Article/</a:t>
            </a:r>
            <a:r>
              <a:rPr lang="en-US" dirty="0">
                <a:solidFill>
                  <a:schemeClr val="bg2"/>
                </a:solidFill>
                <a:hlinkClick r:id="rId4">
                  <a:extLst>
                    <a:ext uri="{A12FA001-AC4F-418D-AE19-62706E023703}">
                      <ahyp:hlinkClr xmlns:ahyp="http://schemas.microsoft.com/office/drawing/2018/hyperlinkcolor" val="tx"/>
                    </a:ext>
                  </a:extLst>
                </a:hlinkClick>
              </a:rPr>
              <a:t>scrum-team</a:t>
            </a:r>
            <a:endParaRPr lang="en-US" dirty="0">
              <a:solidFill>
                <a:schemeClr val="bg2"/>
              </a:solidFill>
            </a:endParaRPr>
          </a:p>
          <a:p>
            <a:pPr marL="457200" indent="-457200"/>
            <a:r>
              <a:rPr lang="en-US" dirty="0">
                <a:solidFill>
                  <a:schemeClr val="bg2"/>
                </a:solidFill>
              </a:rPr>
              <a:t>Scrum Guides. (2020). </a:t>
            </a:r>
            <a:r>
              <a:rPr lang="en-US" i="1" dirty="0">
                <a:solidFill>
                  <a:schemeClr val="bg2"/>
                </a:solidFill>
              </a:rPr>
              <a:t>The 2020 Scrum Guide. </a:t>
            </a:r>
            <a:r>
              <a:rPr lang="en-US" dirty="0">
                <a:solidFill>
                  <a:schemeClr val="bg2"/>
                </a:solidFill>
              </a:rPr>
              <a:t>Scrum Guides. </a:t>
            </a:r>
            <a:r>
              <a:rPr lang="en-US" dirty="0">
                <a:solidFill>
                  <a:srgbClr val="4E60DA"/>
                </a:solidFill>
                <a:hlinkClick r:id="rId5">
                  <a:extLst>
                    <a:ext uri="{A12FA001-AC4F-418D-AE19-62706E023703}">
                      <ahyp:hlinkClr xmlns:ahyp="http://schemas.microsoft.com/office/drawing/2018/hyperlinkcolor" val="tx"/>
                    </a:ext>
                  </a:extLst>
                </a:hlinkClick>
              </a:rPr>
              <a:t>https://scrumguides.org/scrum-guide.html#</a:t>
            </a:r>
            <a:r>
              <a:rPr lang="en-US" dirty="0">
                <a:solidFill>
                  <a:schemeClr val="bg2"/>
                </a:solidFill>
                <a:hlinkClick r:id="rId5">
                  <a:extLst>
                    <a:ext uri="{A12FA001-AC4F-418D-AE19-62706E023703}">
                      <ahyp:hlinkClr xmlns:ahyp="http://schemas.microsoft.com/office/drawing/2018/hyperlinkcolor" val="tx"/>
                    </a:ext>
                  </a:extLst>
                </a:hlinkClick>
              </a:rPr>
              <a:t>scrum-master</a:t>
            </a:r>
            <a:endParaRPr lang="en-US" dirty="0">
              <a:solidFill>
                <a:schemeClr val="bg2"/>
              </a:solidFill>
            </a:endParaRPr>
          </a:p>
          <a:p>
            <a:pPr marL="457200" indent="-457200"/>
            <a:endParaRPr lang="en-US" dirty="0">
              <a:solidFill>
                <a:schemeClr val="bg2"/>
              </a:solidFill>
            </a:endParaRPr>
          </a:p>
        </p:txBody>
      </p:sp>
    </p:spTree>
    <p:extLst>
      <p:ext uri="{BB962C8B-B14F-4D97-AF65-F5344CB8AC3E}">
        <p14:creationId xmlns:p14="http://schemas.microsoft.com/office/powerpoint/2010/main" val="1691848952"/>
      </p:ext>
    </p:extLst>
  </p:cSld>
  <p:clrMapOvr>
    <a:masterClrMapping/>
  </p:clrMapOvr>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fcaeb239-e0ad-43c4-9739-4084ddd7c62f_wac_v2" id="{21E82CDE-DB0F-446A-AB1C-C548E4C4E61C}" vid="{FC4C4127-EA88-45F9-9442-09B36E6C91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EA42C18-4C38-43BB-8CE3-C963EDA9CBB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CC3B381C-6232-408C-B65A-8475398E4C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DE0AE46-2EED-447A-8B24-DFD65B70D448}">
  <ds:schemaRefs>
    <ds:schemaRef ds:uri="http://schemas.microsoft.com/sharepoint/v3/contenttype/forms"/>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{C590E280-D172-457B-9339-20249E163E69}0f45c1b8-b519-4737-8f12-a18148944ef7-TFfcaeb239-e0ad-43c4-9739-4084ddd7c62fe496f549_win32</Template>
  <TotalTime>0</TotalTime>
  <Words>780</Words>
  <Application>Microsoft Office PowerPoint</Application>
  <PresentationFormat>Widescreen</PresentationFormat>
  <Paragraphs>94</Paragraphs>
  <Slides>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Bahnschrift SemiLight</vt:lpstr>
      <vt:lpstr>Blockwork elegance</vt:lpstr>
      <vt:lpstr>Scrum-agile &amp; waterfall</vt:lpstr>
      <vt:lpstr>Agile roles</vt:lpstr>
      <vt:lpstr>Agile Phases in SDLC</vt:lpstr>
      <vt:lpstr>Waterfall method</vt:lpstr>
      <vt:lpstr>Waterfall or agile approach</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Layney Miller</dc:creator>
  <cp:lastModifiedBy>Layney Miller</cp:lastModifiedBy>
  <cp:revision>1</cp:revision>
  <dcterms:created xsi:type="dcterms:W3CDTF">2026-06-20T19:35:54Z</dcterms:created>
  <dcterms:modified xsi:type="dcterms:W3CDTF">2026-06-21T20:51:57Z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